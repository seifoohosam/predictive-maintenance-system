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8792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71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24160" y="-548640"/>
            <a:ext cx="2926080" cy="2926080"/>
          </a:xfrm>
          <a:prstGeom prst="ellipse">
            <a:avLst/>
          </a:prstGeom>
          <a:solidFill>
            <a:srgbClr val="3E7CC9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3E7CC9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 ·  MACHINE LEARNING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237744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Downtime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85800" y="43434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equipment failure from real-time sensor data — torque, pressure, spindle speed, and temperature — so maintenance teams can act before a machine stops.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5623560"/>
            <a:ext cx="502920" cy="502920"/>
          </a:xfrm>
          <a:prstGeom prst="ellipse">
            <a:avLst/>
          </a:prstGeom>
          <a:solidFill>
            <a:srgbClr val="071A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icons/factory_CFE0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5751576"/>
            <a:ext cx="246888" cy="2468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61722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103120" y="5623560"/>
            <a:ext cx="502920" cy="502920"/>
          </a:xfrm>
          <a:prstGeom prst="ellipse">
            <a:avLst/>
          </a:prstGeom>
          <a:solidFill>
            <a:srgbClr val="071A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chip_CFE0F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1136" y="575157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83080" y="61722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520440" y="5623560"/>
            <a:ext cx="502920" cy="502920"/>
          </a:xfrm>
          <a:prstGeom prst="ellipse">
            <a:avLst/>
          </a:prstGeom>
          <a:solidFill>
            <a:srgbClr val="071A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icons/chart_CFE0F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8456" y="5751576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00400" y="61722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Downtime Prediction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803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sensor readings used to anticipate machine failure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44505C"/>
                </a:solidFill>
                <a:latin typeface="Calibri" pitchFamily="34" charset="0"/>
                <a:cs typeface="Calibri" pitchFamily="34" charset="-120"/>
              </a:rPr>
              <a:t>2500 Row 16 column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709160"/>
          </a:xfrm>
          <a:prstGeom prst="roundRect">
            <a:avLst>
              <a:gd name="adj" fmla="val 2474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196596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db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209397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9339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dataset about?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60604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industrial machine operating conditions and sensor readings, in the </a:t>
            </a:r>
            <a:r>
              <a:rPr lang="en-US" sz="135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 of </a:t>
            </a:r>
            <a:r>
              <a:rPr lang="en-US" sz="13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predictive-maintenance dataset.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Machine Failure vs. No Machine Failure from sensor signals alone.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as a binary classification problem — target column: Downtime.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60120" y="4617720"/>
            <a:ext cx="452628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60120" y="47548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sensors drive the prediction: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0120" y="5166360"/>
            <a:ext cx="310896" cy="310896"/>
          </a:xfrm>
          <a:prstGeom prst="ellipse">
            <a:avLst/>
          </a:prstGeom>
          <a:solidFill>
            <a:srgbClr val="3E7CC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temp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5239512"/>
            <a:ext cx="164592" cy="164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44168" y="51389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(Nm)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46120" y="5166360"/>
            <a:ext cx="310896" cy="310896"/>
          </a:xfrm>
          <a:prstGeom prst="ellipse">
            <a:avLst/>
          </a:prstGeom>
          <a:solidFill>
            <a:srgbClr val="3E7CC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icons/spee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5239512"/>
            <a:ext cx="164592" cy="1645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30168" y="51389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Spindle Speed (RPM)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960120" y="5577840"/>
            <a:ext cx="310896" cy="310896"/>
          </a:xfrm>
          <a:prstGeom prst="ellipse">
            <a:avLst/>
          </a:prstGeom>
          <a:solidFill>
            <a:srgbClr val="3E7CC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icons/drop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" y="5650992"/>
            <a:ext cx="164592" cy="164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44168" y="55504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Pressure (bar)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46120" y="5577840"/>
            <a:ext cx="310896" cy="310896"/>
          </a:xfrm>
          <a:prstGeom prst="ellipse">
            <a:avLst/>
          </a:prstGeom>
          <a:solidFill>
            <a:srgbClr val="3E7CC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icons/bol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272" y="5650992"/>
            <a:ext cx="164592" cy="16459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630168" y="55504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Force (kN)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960120" y="5989320"/>
            <a:ext cx="310896" cy="310896"/>
          </a:xfrm>
          <a:prstGeom prst="ellipse">
            <a:avLst/>
          </a:prstGeom>
          <a:solidFill>
            <a:srgbClr val="3E7CC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icons/temp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6062472"/>
            <a:ext cx="164592" cy="16459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44168" y="59618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Coolant Temperature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3246120" y="5989320"/>
            <a:ext cx="310896" cy="310896"/>
          </a:xfrm>
          <a:prstGeom prst="ellipse">
            <a:avLst/>
          </a:prstGeom>
          <a:solidFill>
            <a:srgbClr val="3E7CC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6" descr="icons/drop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272" y="6062472"/>
            <a:ext cx="164592" cy="16459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630168" y="59618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Coolant Pressure (bar)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6172200" y="1691640"/>
            <a:ext cx="2514600" cy="2148840"/>
          </a:xfrm>
          <a:prstGeom prst="roundRect">
            <a:avLst>
              <a:gd name="adj" fmla="val 4255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1"/>
          <p:cNvSpPr/>
          <p:nvPr/>
        </p:nvSpPr>
        <p:spPr>
          <a:xfrm>
            <a:off x="6172200" y="210312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2,500</a:t>
            </a:r>
            <a:endParaRPr lang="en-US" sz="4000" dirty="0"/>
          </a:p>
        </p:txBody>
      </p:sp>
      <p:sp>
        <p:nvSpPr>
          <p:cNvPr id="31" name="Text 22"/>
          <p:cNvSpPr/>
          <p:nvPr/>
        </p:nvSpPr>
        <p:spPr>
          <a:xfrm>
            <a:off x="6172200" y="3108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8869680" y="1691640"/>
            <a:ext cx="2514600" cy="2148840"/>
          </a:xfrm>
          <a:prstGeom prst="roundRect">
            <a:avLst>
              <a:gd name="adj" fmla="val 4255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4"/>
          <p:cNvSpPr/>
          <p:nvPr/>
        </p:nvSpPr>
        <p:spPr>
          <a:xfrm>
            <a:off x="8869680" y="210312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000" dirty="0"/>
          </a:p>
        </p:txBody>
      </p:sp>
      <p:sp>
        <p:nvSpPr>
          <p:cNvPr id="34" name="Text 25"/>
          <p:cNvSpPr/>
          <p:nvPr/>
        </p:nvSpPr>
        <p:spPr>
          <a:xfrm>
            <a:off x="8869680" y="3108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Records</a:t>
            </a:r>
            <a:endParaRPr lang="en-US" sz="1300" dirty="0"/>
          </a:p>
        </p:txBody>
      </p:sp>
      <p:sp>
        <p:nvSpPr>
          <p:cNvPr id="35" name="Shape 26"/>
          <p:cNvSpPr/>
          <p:nvPr/>
        </p:nvSpPr>
        <p:spPr>
          <a:xfrm>
            <a:off x="6172200" y="4000500"/>
            <a:ext cx="2514600" cy="2148840"/>
          </a:xfrm>
          <a:prstGeom prst="roundRect">
            <a:avLst>
              <a:gd name="adj" fmla="val 4255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6" name="Text 27"/>
          <p:cNvSpPr/>
          <p:nvPr/>
        </p:nvSpPr>
        <p:spPr>
          <a:xfrm>
            <a:off x="6172200" y="44348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37" name="Text 28"/>
          <p:cNvSpPr/>
          <p:nvPr/>
        </p:nvSpPr>
        <p:spPr>
          <a:xfrm>
            <a:off x="6172200" y="54406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Features</a:t>
            </a:r>
            <a:endParaRPr lang="en-US" sz="1300" dirty="0"/>
          </a:p>
        </p:txBody>
      </p:sp>
      <p:sp>
        <p:nvSpPr>
          <p:cNvPr id="38" name="Shape 29"/>
          <p:cNvSpPr/>
          <p:nvPr/>
        </p:nvSpPr>
        <p:spPr>
          <a:xfrm>
            <a:off x="8869680" y="4023360"/>
            <a:ext cx="2514600" cy="2148840"/>
          </a:xfrm>
          <a:prstGeom prst="roundRect">
            <a:avLst>
              <a:gd name="adj" fmla="val 4255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0"/>
          <p:cNvSpPr/>
          <p:nvPr/>
        </p:nvSpPr>
        <p:spPr>
          <a:xfrm>
            <a:off x="8869680" y="44348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40" name="Text 31"/>
          <p:cNvSpPr/>
          <p:nvPr/>
        </p:nvSpPr>
        <p:spPr>
          <a:xfrm>
            <a:off x="8869680" y="54406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Downtime Prediction</a:t>
            </a:r>
            <a:endParaRPr lang="en-US" sz="900" dirty="0"/>
          </a:p>
        </p:txBody>
      </p:sp>
      <p:sp>
        <p:nvSpPr>
          <p:cNvPr id="42" name="Text 3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raw sensor logs before modeling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clea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09397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6060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&amp; Invalid Readings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329184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sensor columns contained missing readings.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rows were imputed</a:t>
            </a:r>
            <a:r>
              <a:rPr lang="ar-EG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median</a:t>
            </a:r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size: 2,500 → 2,500 clean records.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63440" y="196596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fact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09397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6060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63440" y="329184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were checked across the full record set.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no duplicate rows found.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further deduplication was required.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12480" y="196596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gea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496" y="209397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6060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12480" y="329184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Assembly_Line_No was dropped — it duplicates Machine_ID.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is kept only for reference, never used as a model feature.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Downtime was encoded as 0 / 1.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Downtime Prediction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patterns before training models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targ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09397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6060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Distribution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329184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cleaned dataset (2,500 records) splits into Failure and No-Failure cases.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are reasonably balanced — no heavy skew toward either outcome.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target makes accuracy a meaningful metric alongside precision/recall.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63440" y="196596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scatt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09397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6060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Explored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63440" y="329184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vs. Spindle Speed — mechanical load patterns.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Pressure vs. Downtime — pressure drops preceding failure.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Coolant Temperature vs. Downtime — overheating as a failure signal.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12480" y="196596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insight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496" y="209397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6060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12480" y="329184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correlation heatmap was built across all sensor features.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highlights which readings move together, and which move with the target.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which sensors carry the strongest predictive signal.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Downtime Prediction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&amp; Modeling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clean sensor data to a trained classifier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914400" y="2377440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2743200"/>
            <a:ext cx="0" cy="502920"/>
          </a:xfrm>
          <a:prstGeom prst="line">
            <a:avLst/>
          </a:prstGeom>
          <a:noFill/>
          <a:ln w="19050">
            <a:solidFill>
              <a:srgbClr val="3E7CC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63040" y="23500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Encode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67004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Assembly_Line_No (duplicate of Machine_ID), missing values were imputed with the median, encode the target 0/1.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4400" y="3291840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3657600"/>
            <a:ext cx="0" cy="502920"/>
          </a:xfrm>
          <a:prstGeom prst="line">
            <a:avLst/>
          </a:prstGeom>
          <a:noFill/>
          <a:ln w="19050">
            <a:solidFill>
              <a:srgbClr val="3E7CC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63040" y="32644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&amp; Select Features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358444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Random Forest ranks all 12 candidate columns; the top 6 are kept: Torque, Hydraulic Pressure, Cutting Force, Coolant Pressure, Spindle Speed, Coolant Temperature.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" y="4206240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7280" y="4572000"/>
            <a:ext cx="0" cy="502920"/>
          </a:xfrm>
          <a:prstGeom prst="line">
            <a:avLst/>
          </a:prstGeom>
          <a:noFill/>
          <a:ln w="19050">
            <a:solidFill>
              <a:srgbClr val="3E7CC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463040" y="41788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 Split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49884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test, then the train set is split again (80/20) to create a validation set for model selection.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4400" y="5120640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50932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541324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Logistic Regression, Linear SVM, and Random Forest on the validation split; pick the best by F1-score, then confirm on the untouched test set.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1691640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922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6492240" y="2514600"/>
            <a:ext cx="4800600" cy="868680"/>
          </a:xfrm>
          <a:prstGeom prst="roundRect">
            <a:avLst>
              <a:gd name="adj" fmla="val 8421"/>
            </a:avLst>
          </a:prstGeom>
          <a:solidFill>
            <a:srgbClr val="071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675120" y="2670048"/>
            <a:ext cx="438912" cy="438912"/>
          </a:xfrm>
          <a:prstGeom prst="ellipse">
            <a:avLst/>
          </a:prstGeom>
          <a:solidFill>
            <a:srgbClr val="3E7CC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0" descr="icons/ge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761488"/>
            <a:ext cx="256032" cy="25603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26948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269480" y="29169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 model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0058400" y="251460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9921240" y="3063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val. accuracy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492240" y="3639312"/>
            <a:ext cx="4800600" cy="868680"/>
          </a:xfrm>
          <a:prstGeom prst="roundRect">
            <a:avLst>
              <a:gd name="adj" fmla="val 8421"/>
            </a:avLst>
          </a:prstGeom>
          <a:solidFill>
            <a:srgbClr val="071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6675120" y="3794760"/>
            <a:ext cx="438912" cy="438912"/>
          </a:xfrm>
          <a:prstGeom prst="ellipse">
            <a:avLst/>
          </a:prstGeom>
          <a:solidFill>
            <a:srgbClr val="3E7CC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1" descr="icons/ge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886200"/>
            <a:ext cx="256032" cy="256032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7269480" y="37307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7269480" y="40416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Margin-based linear classifier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10058400" y="3639312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2000" dirty="0"/>
          </a:p>
        </p:txBody>
      </p:sp>
      <p:sp>
        <p:nvSpPr>
          <p:cNvPr id="40" name="Text 36"/>
          <p:cNvSpPr/>
          <p:nvPr/>
        </p:nvSpPr>
        <p:spPr>
          <a:xfrm>
            <a:off x="9921240" y="4187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val. accuracy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6492240" y="4764024"/>
            <a:ext cx="4800600" cy="868680"/>
          </a:xfrm>
          <a:prstGeom prst="roundRect">
            <a:avLst>
              <a:gd name="adj" fmla="val 8421"/>
            </a:avLst>
          </a:prstGeom>
          <a:solidFill>
            <a:srgbClr val="3E7C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8"/>
          <p:cNvSpPr/>
          <p:nvPr/>
        </p:nvSpPr>
        <p:spPr>
          <a:xfrm>
            <a:off x="6675120" y="491947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2" descr="icons/check_0B25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5010912"/>
            <a:ext cx="256032" cy="256032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7269480" y="485546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45" name="Text 40"/>
          <p:cNvSpPr/>
          <p:nvPr/>
        </p:nvSpPr>
        <p:spPr>
          <a:xfrm>
            <a:off x="7269480" y="5166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 — selected model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10058400" y="4764024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98.9%</a:t>
            </a:r>
            <a:endParaRPr lang="en-US" sz="2000" dirty="0"/>
          </a:p>
        </p:txBody>
      </p:sp>
      <p:sp>
        <p:nvSpPr>
          <p:cNvPr id="47" name="Text 42"/>
          <p:cNvSpPr/>
          <p:nvPr/>
        </p:nvSpPr>
        <p:spPr>
          <a:xfrm>
            <a:off x="9921240" y="5312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val. accuracy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6492240" y="5934456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9" name="Text 4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Downtime Prediction</a:t>
            </a:r>
            <a:endParaRPr lang="en-US" sz="900" dirty="0"/>
          </a:p>
        </p:txBody>
      </p:sp>
      <p:sp>
        <p:nvSpPr>
          <p:cNvPr id="50" name="Text 4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test-set performance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1856232"/>
            <a:ext cx="658368" cy="658368"/>
          </a:xfrm>
          <a:prstGeom prst="ellipse">
            <a:avLst/>
          </a:prstGeom>
          <a:solidFill>
            <a:srgbClr val="3E7CC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00253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Model: Random Forest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91640" y="2194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 — chosen for the strongest, most consistent test performance.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063240"/>
            <a:ext cx="2029968" cy="1965960"/>
          </a:xfrm>
          <a:prstGeom prst="roundRect">
            <a:avLst>
              <a:gd name="adj" fmla="val 4651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3429000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r>
              <a:rPr lang="ar-EG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r>
              <a:rPr lang="ar-EG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40080" y="4297680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834640" y="3063240"/>
            <a:ext cx="2029968" cy="1965960"/>
          </a:xfrm>
          <a:prstGeom prst="roundRect">
            <a:avLst>
              <a:gd name="adj" fmla="val 4651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834640" y="3429000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</a:t>
            </a:r>
            <a:r>
              <a:rPr lang="ar-EG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834640" y="4297680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0" y="3063240"/>
            <a:ext cx="2029968" cy="1965960"/>
          </a:xfrm>
          <a:prstGeom prst="roundRect">
            <a:avLst>
              <a:gd name="adj" fmla="val 4651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29200" y="3429000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98.79%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5029200" y="4297680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223760" y="3063240"/>
            <a:ext cx="2029968" cy="1965960"/>
          </a:xfrm>
          <a:prstGeom prst="roundRect">
            <a:avLst>
              <a:gd name="adj" fmla="val 4651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223760" y="3429000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99.00%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7223760" y="4297680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9418320" y="3063240"/>
            <a:ext cx="2029968" cy="1965960"/>
          </a:xfrm>
          <a:prstGeom prst="roundRect">
            <a:avLst>
              <a:gd name="adj" fmla="val 4651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418320" y="3429000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99.98%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9418320" y="4297680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40080" y="53492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ensemble models consistently outperformed the linear baseline during comparison.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generalized best on unseen data, with very high recall — critical for catching real failures early.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Downtime Prediction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Roadmap: From Notebook to Production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already built, and what production deployment still needs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78608" cy="3794760"/>
          </a:xfrm>
          <a:prstGeom prst="roundRect">
            <a:avLst>
              <a:gd name="adj" fmla="val 4255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645920" y="210312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icons/db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6" y="2231136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92608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Saved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3520440"/>
            <a:ext cx="22128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pipeline (preprocessing + Random Forest) is persisted to disk with its metadata.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36976" y="3680460"/>
            <a:ext cx="146304" cy="0"/>
          </a:xfrm>
          <a:prstGeom prst="line">
            <a:avLst/>
          </a:prstGeom>
          <a:noFill/>
          <a:ln w="25400">
            <a:solidFill>
              <a:srgbClr val="C7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01568" y="1783080"/>
            <a:ext cx="2578608" cy="3794760"/>
          </a:xfrm>
          <a:prstGeom prst="roundRect">
            <a:avLst>
              <a:gd name="adj" fmla="val 4255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407408" y="210312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24" y="2231136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38728" y="292608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Function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3584448" y="3520440"/>
            <a:ext cx="22128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each reading's sensor ranges and flags low-confidence cases for manual review.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998464" y="3680460"/>
            <a:ext cx="146304" cy="0"/>
          </a:xfrm>
          <a:prstGeom prst="line">
            <a:avLst/>
          </a:prstGeom>
          <a:noFill/>
          <a:ln w="25400">
            <a:solidFill>
              <a:srgbClr val="C7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163056" y="1783080"/>
            <a:ext cx="2578608" cy="3794760"/>
          </a:xfrm>
          <a:prstGeom prst="roundRect">
            <a:avLst>
              <a:gd name="adj" fmla="val 4255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7168896" y="210312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icons/chip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2231136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00216" y="292608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Demo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6345936" y="3520440"/>
            <a:ext cx="22128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Gradio interface with sliders bounded to real sensor ranges — built and tested in the notebook.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8759952" y="3680460"/>
            <a:ext cx="146304" cy="0"/>
          </a:xfrm>
          <a:prstGeom prst="line">
            <a:avLst/>
          </a:prstGeom>
          <a:noFill/>
          <a:ln w="25400">
            <a:solidFill>
              <a:srgbClr val="C7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8924544" y="1783080"/>
            <a:ext cx="2578608" cy="3794760"/>
          </a:xfrm>
          <a:prstGeom prst="roundRect">
            <a:avLst>
              <a:gd name="adj" fmla="val 4255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10543032" y="198424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b="1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9930384" y="2103120"/>
            <a:ext cx="566928" cy="566928"/>
          </a:xfrm>
          <a:prstGeom prst="ellipse">
            <a:avLst/>
          </a:prstGeom>
          <a:solidFill>
            <a:srgbClr val="3E7CC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3" descr="icons/warning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0" y="2231136"/>
            <a:ext cx="310896" cy="31089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061704" y="292608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1450" dirty="0"/>
          </a:p>
        </p:txBody>
      </p:sp>
      <p:sp>
        <p:nvSpPr>
          <p:cNvPr id="34" name="Text 28"/>
          <p:cNvSpPr/>
          <p:nvPr/>
        </p:nvSpPr>
        <p:spPr>
          <a:xfrm>
            <a:off x="9107424" y="3520440"/>
            <a:ext cx="22128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inference in a </a:t>
            </a:r>
            <a:r>
              <a:rPr lang="en-US" sz="1100" dirty="0" err="1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11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service, deploy to </a:t>
            </a:r>
            <a:r>
              <a:rPr lang="en-US" sz="110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</a:t>
            </a:r>
            <a:r>
              <a:rPr lang="en-US" sz="11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monitor for drift with </a:t>
            </a:r>
            <a:r>
              <a:rPr lang="en-US" sz="1100" dirty="0" err="1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r>
              <a:rPr lang="en-US" sz="11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Downtime Prediction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71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366760" y="1307592"/>
            <a:ext cx="502920" cy="502920"/>
          </a:xfrm>
          <a:prstGeom prst="ellipse">
            <a:avLst/>
          </a:prstGeom>
          <a:solidFill>
            <a:srgbClr val="3E7CC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insight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911096"/>
            <a:ext cx="246888" cy="246888"/>
          </a:xfrm>
          <a:prstGeom prst="rect">
            <a:avLst/>
          </a:prstGeom>
        </p:spPr>
      </p:pic>
      <p:pic>
        <p:nvPicPr>
          <p:cNvPr id="10" name="Image 1" descr="icons/maintenanc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911096"/>
            <a:ext cx="246888" cy="24688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5320" y="3464185"/>
            <a:ext cx="10881360" cy="640080"/>
          </a:xfrm>
          <a:prstGeom prst="roundRect">
            <a:avLst>
              <a:gd name="adj" fmla="val 50000"/>
            </a:avLst>
          </a:prstGeom>
          <a:solidFill>
            <a:srgbClr val="071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68096" y="3437547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i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</a:t>
            </a:r>
            <a:endParaRPr lang="en-US" sz="7200" dirty="0"/>
          </a:p>
        </p:txBody>
      </p:sp>
      <p:sp>
        <p:nvSpPr>
          <p:cNvPr id="15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Downtime Prediction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32A2C8E0-94A2-6BDE-4C96-428EB13D0DF2}"/>
              </a:ext>
            </a:extLst>
          </p:cNvPr>
          <p:cNvSpPr/>
          <p:nvPr/>
        </p:nvSpPr>
        <p:spPr>
          <a:xfrm>
            <a:off x="1909639" y="5294376"/>
            <a:ext cx="502920" cy="502920"/>
          </a:xfrm>
          <a:prstGeom prst="ellipse">
            <a:avLst/>
          </a:prstGeom>
          <a:solidFill>
            <a:srgbClr val="3E7CC9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761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amera</cp:lastModifiedBy>
  <cp:revision>13</cp:revision>
  <dcterms:created xsi:type="dcterms:W3CDTF">2026-07-28T02:26:18Z</dcterms:created>
  <dcterms:modified xsi:type="dcterms:W3CDTF">2026-08-02T13:34:51Z</dcterms:modified>
</cp:coreProperties>
</file>